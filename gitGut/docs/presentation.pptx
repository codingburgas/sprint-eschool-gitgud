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Raleway Bold" panose="020B0604020202020204" charset="-52"/>
      <p:regular r:id="rId8"/>
    </p:embeddedFont>
    <p:embeddedFont>
      <p:font typeface="HK Modular" panose="020B0604020202020204" charset="0"/>
      <p:regular r:id="rId9"/>
    </p:embeddedFont>
    <p:embeddedFont>
      <p:font typeface="Calibri" panose="020F0502020204030204" pitchFamily="34" charset="0"/>
      <p:regular r:id="rId10"/>
      <p:bold r:id="rId11"/>
      <p:italic r:id="rId12"/>
      <p:boldItalic r:id="rId13"/>
    </p:embeddedFont>
    <p:embeddedFont>
      <p:font typeface="Gruppo" panose="020B0604020202020204" charset="0"/>
      <p:regular r:id="rId14"/>
    </p:embeddedFont>
    <p:embeddedFont>
      <p:font typeface="Raleway Light" panose="020B0604020202020204" charset="-52"/>
      <p:regular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2.wdp"/><Relationship Id="rId7" Type="http://schemas.openxmlformats.org/officeDocument/2006/relationships/image" Target="../media/image5.svg"/><Relationship Id="rId12"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2.sv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3.jpeg"/><Relationship Id="rId3" Type="http://schemas.microsoft.com/office/2007/relationships/hdphoto" Target="../media/hdphoto3.wdp"/><Relationship Id="rId7" Type="http://schemas.openxmlformats.org/officeDocument/2006/relationships/image" Target="../media/image5.svg"/><Relationship Id="rId12" Type="http://schemas.openxmlformats.org/officeDocument/2006/relationships/image" Target="../media/image12.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1.jpeg"/><Relationship Id="rId5" Type="http://schemas.openxmlformats.org/officeDocument/2006/relationships/image" Target="../media/image3.sv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4.wdp"/><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7.png"/><Relationship Id="rId18" Type="http://schemas.openxmlformats.org/officeDocument/2006/relationships/image" Target="../media/image22.png"/><Relationship Id="rId3" Type="http://schemas.microsoft.com/office/2007/relationships/hdphoto" Target="../media/hdphoto2.wdp"/><Relationship Id="rId7" Type="http://schemas.openxmlformats.org/officeDocument/2006/relationships/image" Target="../media/image5.sv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5.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21.svg"/><Relationship Id="rId5" Type="http://schemas.openxmlformats.org/officeDocument/2006/relationships/image" Target="../media/image3.svg"/><Relationship Id="rId15" Type="http://schemas.openxmlformats.org/officeDocument/2006/relationships/image" Target="../media/image19.png"/><Relationship Id="rId10" Type="http://schemas.openxmlformats.org/officeDocument/2006/relationships/image" Target="../media/image15.png"/><Relationship Id="rId19"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10.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000000">
                <a:alpha val="100000"/>
              </a:srgbClr>
            </a:gs>
          </a:gsLst>
          <a:lin ang="0"/>
        </a:gradFill>
        <a:effectLst/>
      </p:bgPr>
    </p:bg>
    <p:spTree>
      <p:nvGrpSpPr>
        <p:cNvPr id="1" name=""/>
        <p:cNvGrpSpPr/>
        <p:nvPr/>
      </p:nvGrpSpPr>
      <p:grpSpPr>
        <a:xfrm>
          <a:off x="0" y="0"/>
          <a:ext cx="0" cy="0"/>
          <a:chOff x="0" y="0"/>
          <a:chExt cx="0" cy="0"/>
        </a:xfrm>
      </p:grpSpPr>
      <p:pic>
        <p:nvPicPr>
          <p:cNvPr id="11" name="Picture 10" descr="A circuit board with many dots&#10;&#10;AI-generated content may be incorrect.">
            <a:extLst>
              <a:ext uri="{FF2B5EF4-FFF2-40B4-BE49-F238E27FC236}">
                <a16:creationId xmlns:a16="http://schemas.microsoft.com/office/drawing/2014/main" id="{D8ACF584-BBCB-87BE-60B6-211FBC2E616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Freeform 2"/>
          <p:cNvSpPr/>
          <p:nvPr/>
        </p:nvSpPr>
        <p:spPr>
          <a:xfrm>
            <a:off x="15154235" y="-723790"/>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7372862" y="2318984"/>
            <a:ext cx="3799594" cy="678844"/>
          </a:xfrm>
          <a:custGeom>
            <a:avLst/>
            <a:gdLst/>
            <a:ahLst/>
            <a:cxnLst/>
            <a:rect l="l" t="t" r="r" b="b"/>
            <a:pathLst>
              <a:path w="3799594" h="678844">
                <a:moveTo>
                  <a:pt x="0" y="0"/>
                </a:moveTo>
                <a:lnTo>
                  <a:pt x="3799594" y="0"/>
                </a:lnTo>
                <a:lnTo>
                  <a:pt x="3799594" y="678844"/>
                </a:lnTo>
                <a:lnTo>
                  <a:pt x="0" y="67884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4" name="Freeform 4"/>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5" name="Freeform 5"/>
          <p:cNvSpPr/>
          <p:nvPr/>
        </p:nvSpPr>
        <p:spPr>
          <a:xfrm>
            <a:off x="8117129" y="7588707"/>
            <a:ext cx="2311059" cy="638693"/>
          </a:xfrm>
          <a:custGeom>
            <a:avLst/>
            <a:gdLst/>
            <a:ahLst/>
            <a:cxnLst/>
            <a:rect l="l" t="t" r="r" b="b"/>
            <a:pathLst>
              <a:path w="2311059" h="638693">
                <a:moveTo>
                  <a:pt x="0" y="0"/>
                </a:moveTo>
                <a:lnTo>
                  <a:pt x="2311059" y="0"/>
                </a:lnTo>
                <a:lnTo>
                  <a:pt x="2311059" y="638693"/>
                </a:lnTo>
                <a:lnTo>
                  <a:pt x="0" y="63869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TextBox 6"/>
          <p:cNvSpPr txBox="1"/>
          <p:nvPr/>
        </p:nvSpPr>
        <p:spPr>
          <a:xfrm>
            <a:off x="2966565" y="4264653"/>
            <a:ext cx="12612187" cy="1458542"/>
          </a:xfrm>
          <a:prstGeom prst="rect">
            <a:avLst/>
          </a:prstGeom>
        </p:spPr>
        <p:txBody>
          <a:bodyPr lIns="0" tIns="0" rIns="0" bIns="0" rtlCol="0" anchor="t">
            <a:spAutoFit/>
          </a:bodyPr>
          <a:lstStyle/>
          <a:p>
            <a:pPr algn="ctr">
              <a:lnSpc>
                <a:spcPts val="11242"/>
              </a:lnSpc>
            </a:pPr>
            <a:r>
              <a:rPr lang="en-US" sz="10314">
                <a:solidFill>
                  <a:srgbClr val="FFFFFF"/>
                </a:solidFill>
                <a:latin typeface="HK Modular"/>
                <a:ea typeface="HK Modular"/>
                <a:cs typeface="HK Modular"/>
                <a:sym typeface="HK Modular"/>
              </a:rPr>
              <a:t>GIT GUD</a:t>
            </a:r>
          </a:p>
        </p:txBody>
      </p:sp>
      <p:sp>
        <p:nvSpPr>
          <p:cNvPr id="7" name="TextBox 7"/>
          <p:cNvSpPr txBox="1"/>
          <p:nvPr/>
        </p:nvSpPr>
        <p:spPr>
          <a:xfrm>
            <a:off x="5093627" y="6759084"/>
            <a:ext cx="8100746" cy="341000"/>
          </a:xfrm>
          <a:prstGeom prst="rect">
            <a:avLst/>
          </a:prstGeom>
        </p:spPr>
        <p:txBody>
          <a:bodyPr lIns="0" tIns="0" rIns="0" bIns="0" rtlCol="0" anchor="t">
            <a:spAutoFit/>
          </a:bodyPr>
          <a:lstStyle/>
          <a:p>
            <a:pPr algn="ctr">
              <a:lnSpc>
                <a:spcPts val="2565"/>
              </a:lnSpc>
              <a:spcBef>
                <a:spcPct val="0"/>
              </a:spcBef>
            </a:pPr>
            <a:r>
              <a:rPr lang="en-US" sz="2375">
                <a:solidFill>
                  <a:srgbClr val="FFFFFF"/>
                </a:solidFill>
                <a:latin typeface="Gruppo"/>
                <a:ea typeface="Gruppo"/>
                <a:cs typeface="Gruppo"/>
                <a:sym typeface="Gruppo"/>
              </a:rPr>
              <a:t>Online school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3B616F">
                <a:alpha val="100000"/>
              </a:srgbClr>
            </a:gs>
          </a:gsLst>
          <a:lin ang="0"/>
        </a:gradFill>
        <a:effectLst/>
      </p:bgPr>
    </p:bg>
    <p:spTree>
      <p:nvGrpSpPr>
        <p:cNvPr id="1" name=""/>
        <p:cNvGrpSpPr/>
        <p:nvPr/>
      </p:nvGrpSpPr>
      <p:grpSpPr>
        <a:xfrm>
          <a:off x="0" y="0"/>
          <a:ext cx="0" cy="0"/>
          <a:chOff x="0" y="0"/>
          <a:chExt cx="0" cy="0"/>
        </a:xfrm>
      </p:grpSpPr>
      <p:pic>
        <p:nvPicPr>
          <p:cNvPr id="23" name="Picture 22" descr="A blue grid with white lines&#10;&#10;AI-generated content may be incorrect.">
            <a:extLst>
              <a:ext uri="{FF2B5EF4-FFF2-40B4-BE49-F238E27FC236}">
                <a16:creationId xmlns:a16="http://schemas.microsoft.com/office/drawing/2014/main" id="{31E93F95-8104-D06C-CFD1-6F35A8A5FDB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6000"/>
                    </a14:imgEffect>
                    <a14:imgEffect>
                      <a14:saturation sat="66000"/>
                    </a14:imgEffect>
                    <a14:imgEffect>
                      <a14:brightnessContrast bright="-52000" contrast="-19000"/>
                    </a14:imgEffect>
                  </a14:imgLayer>
                </a14:imgProps>
              </a:ex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Freeform 2"/>
          <p:cNvSpPr/>
          <p:nvPr/>
        </p:nvSpPr>
        <p:spPr>
          <a:xfrm>
            <a:off x="16419691"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15580083"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4" name="Freeform 4"/>
          <p:cNvSpPr/>
          <p:nvPr/>
        </p:nvSpPr>
        <p:spPr>
          <a:xfrm>
            <a:off x="1776071" y="9014517"/>
            <a:ext cx="2728988" cy="487567"/>
          </a:xfrm>
          <a:custGeom>
            <a:avLst/>
            <a:gdLst/>
            <a:ahLst/>
            <a:cxnLst/>
            <a:rect l="l" t="t" r="r" b="b"/>
            <a:pathLst>
              <a:path w="2728988" h="487567">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5" name="Freeform 5"/>
          <p:cNvSpPr/>
          <p:nvPr/>
        </p:nvSpPr>
        <p:spPr>
          <a:xfrm>
            <a:off x="12804396" y="9014517"/>
            <a:ext cx="4454904" cy="406385"/>
          </a:xfrm>
          <a:custGeom>
            <a:avLst/>
            <a:gdLst/>
            <a:ahLst/>
            <a:cxnLst/>
            <a:rect l="l" t="t" r="r" b="b"/>
            <a:pathLst>
              <a:path w="4454904" h="406385">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Freeform 6"/>
          <p:cNvSpPr/>
          <p:nvPr/>
        </p:nvSpPr>
        <p:spPr>
          <a:xfrm>
            <a:off x="2327485" y="36760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bg-BG"/>
          </a:p>
        </p:txBody>
      </p:sp>
      <p:sp>
        <p:nvSpPr>
          <p:cNvPr id="7" name="Freeform 7"/>
          <p:cNvSpPr/>
          <p:nvPr/>
        </p:nvSpPr>
        <p:spPr>
          <a:xfrm>
            <a:off x="1982326" y="3413023"/>
            <a:ext cx="1347336" cy="1503304"/>
          </a:xfrm>
          <a:custGeom>
            <a:avLst/>
            <a:gdLst/>
            <a:ahLst/>
            <a:cxnLst/>
            <a:rect l="l" t="t" r="r" b="b"/>
            <a:pathLst>
              <a:path w="1347336" h="1503304">
                <a:moveTo>
                  <a:pt x="0" y="0"/>
                </a:moveTo>
                <a:lnTo>
                  <a:pt x="1347336" y="0"/>
                </a:lnTo>
                <a:lnTo>
                  <a:pt x="1347336" y="1503303"/>
                </a:lnTo>
                <a:lnTo>
                  <a:pt x="0" y="1503303"/>
                </a:lnTo>
                <a:lnTo>
                  <a:pt x="0" y="0"/>
                </a:lnTo>
                <a:close/>
              </a:path>
            </a:pathLst>
          </a:custGeom>
          <a:blipFill>
            <a:blip r:embed="rId12"/>
            <a:stretch>
              <a:fillRect/>
            </a:stretch>
          </a:blipFill>
        </p:spPr>
        <p:txBody>
          <a:bodyPr/>
          <a:lstStyle/>
          <a:p>
            <a:endParaRPr lang="bg-BG"/>
          </a:p>
        </p:txBody>
      </p:sp>
      <p:sp>
        <p:nvSpPr>
          <p:cNvPr id="8" name="TextBox 8"/>
          <p:cNvSpPr txBox="1"/>
          <p:nvPr/>
        </p:nvSpPr>
        <p:spPr>
          <a:xfrm>
            <a:off x="13458263" y="9073308"/>
            <a:ext cx="3147170" cy="298328"/>
          </a:xfrm>
          <a:prstGeom prst="rect">
            <a:avLst/>
          </a:prstGeom>
        </p:spPr>
        <p:txBody>
          <a:bodyPr lIns="0" tIns="0" rIns="0" bIns="0" rtlCol="0" anchor="t">
            <a:spAutoFit/>
          </a:bodyPr>
          <a:lstStyle/>
          <a:p>
            <a:pPr algn="ctr">
              <a:lnSpc>
                <a:spcPts val="2241"/>
              </a:lnSpc>
              <a:spcBef>
                <a:spcPct val="0"/>
              </a:spcBef>
            </a:pPr>
            <a:r>
              <a:rPr lang="en-US" sz="2075">
                <a:solidFill>
                  <a:srgbClr val="00FFFF"/>
                </a:solidFill>
                <a:latin typeface="Gruppo"/>
                <a:ea typeface="Gruppo"/>
                <a:cs typeface="Gruppo"/>
                <a:sym typeface="Gruppo"/>
              </a:rPr>
              <a:t>www.gitgud.com</a:t>
            </a:r>
          </a:p>
        </p:txBody>
      </p:sp>
      <p:sp>
        <p:nvSpPr>
          <p:cNvPr id="9" name="TextBox 9"/>
          <p:cNvSpPr txBox="1"/>
          <p:nvPr/>
        </p:nvSpPr>
        <p:spPr>
          <a:xfrm>
            <a:off x="3782538" y="1778271"/>
            <a:ext cx="10722924" cy="863267"/>
          </a:xfrm>
          <a:prstGeom prst="rect">
            <a:avLst/>
          </a:prstGeom>
        </p:spPr>
        <p:txBody>
          <a:bodyPr lIns="0" tIns="0" rIns="0" bIns="0" rtlCol="0" anchor="t">
            <a:spAutoFit/>
          </a:bodyPr>
          <a:lstStyle/>
          <a:p>
            <a:pPr algn="ctr">
              <a:lnSpc>
                <a:spcPts val="6880"/>
              </a:lnSpc>
            </a:pPr>
            <a:r>
              <a:rPr lang="en-US" sz="5460">
                <a:solidFill>
                  <a:srgbClr val="FFFFFF"/>
                </a:solidFill>
                <a:latin typeface="HK Modular"/>
                <a:ea typeface="HK Modular"/>
                <a:cs typeface="HK Modular"/>
                <a:sym typeface="HK Modular"/>
              </a:rPr>
              <a:t>TABLE OF CONTENTS</a:t>
            </a:r>
          </a:p>
        </p:txBody>
      </p:sp>
      <p:sp>
        <p:nvSpPr>
          <p:cNvPr id="10" name="TextBox 10"/>
          <p:cNvSpPr txBox="1"/>
          <p:nvPr/>
        </p:nvSpPr>
        <p:spPr>
          <a:xfrm>
            <a:off x="3257409" y="5470203"/>
            <a:ext cx="2254952" cy="385232"/>
          </a:xfrm>
          <a:prstGeom prst="rect">
            <a:avLst/>
          </a:prstGeom>
        </p:spPr>
        <p:txBody>
          <a:bodyPr lIns="0" tIns="0" rIns="0" bIns="0" rtlCol="0" anchor="t">
            <a:spAutoFit/>
          </a:bodyPr>
          <a:lstStyle/>
          <a:p>
            <a:pPr algn="ctr">
              <a:lnSpc>
                <a:spcPts val="2999"/>
              </a:lnSpc>
              <a:spcBef>
                <a:spcPct val="0"/>
              </a:spcBef>
            </a:pPr>
            <a:r>
              <a:rPr lang="en-US" sz="2777" b="1">
                <a:solidFill>
                  <a:srgbClr val="FFFFFF"/>
                </a:solidFill>
                <a:latin typeface="Raleway Bold"/>
                <a:ea typeface="Raleway Bold"/>
                <a:cs typeface="Raleway Bold"/>
                <a:sym typeface="Raleway Bold"/>
              </a:rPr>
              <a:t>Our team</a:t>
            </a:r>
          </a:p>
        </p:txBody>
      </p:sp>
      <p:sp>
        <p:nvSpPr>
          <p:cNvPr id="11" name="TextBox 11"/>
          <p:cNvSpPr txBox="1"/>
          <p:nvPr/>
        </p:nvSpPr>
        <p:spPr>
          <a:xfrm>
            <a:off x="2351662" y="3761150"/>
            <a:ext cx="681791" cy="597068"/>
          </a:xfrm>
          <a:prstGeom prst="rect">
            <a:avLst/>
          </a:prstGeom>
        </p:spPr>
        <p:txBody>
          <a:bodyPr lIns="0" tIns="0" rIns="0" bIns="0" rtlCol="0" anchor="t">
            <a:spAutoFit/>
          </a:bodyPr>
          <a:lstStyle/>
          <a:p>
            <a:pPr algn="ctr">
              <a:lnSpc>
                <a:spcPts val="4511"/>
              </a:lnSpc>
              <a:spcBef>
                <a:spcPct val="0"/>
              </a:spcBef>
            </a:pPr>
            <a:r>
              <a:rPr lang="en-US" sz="4177" b="1">
                <a:solidFill>
                  <a:srgbClr val="FFFFFF"/>
                </a:solidFill>
                <a:latin typeface="Raleway Bold"/>
                <a:ea typeface="Raleway Bold"/>
                <a:cs typeface="Raleway Bold"/>
                <a:sym typeface="Raleway Bold"/>
              </a:rPr>
              <a:t>1.</a:t>
            </a:r>
          </a:p>
        </p:txBody>
      </p:sp>
      <p:sp>
        <p:nvSpPr>
          <p:cNvPr id="12" name="Freeform 12"/>
          <p:cNvSpPr/>
          <p:nvPr/>
        </p:nvSpPr>
        <p:spPr>
          <a:xfrm>
            <a:off x="7777119" y="36760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bg-BG"/>
          </a:p>
        </p:txBody>
      </p:sp>
      <p:sp>
        <p:nvSpPr>
          <p:cNvPr id="13" name="Freeform 13"/>
          <p:cNvSpPr/>
          <p:nvPr/>
        </p:nvSpPr>
        <p:spPr>
          <a:xfrm>
            <a:off x="7431960" y="3413023"/>
            <a:ext cx="1347336" cy="1503304"/>
          </a:xfrm>
          <a:custGeom>
            <a:avLst/>
            <a:gdLst/>
            <a:ahLst/>
            <a:cxnLst/>
            <a:rect l="l" t="t" r="r" b="b"/>
            <a:pathLst>
              <a:path w="1347336" h="1503304">
                <a:moveTo>
                  <a:pt x="0" y="0"/>
                </a:moveTo>
                <a:lnTo>
                  <a:pt x="1347335" y="0"/>
                </a:lnTo>
                <a:lnTo>
                  <a:pt x="1347335" y="1503303"/>
                </a:lnTo>
                <a:lnTo>
                  <a:pt x="0" y="1503303"/>
                </a:lnTo>
                <a:lnTo>
                  <a:pt x="0" y="0"/>
                </a:lnTo>
                <a:close/>
              </a:path>
            </a:pathLst>
          </a:custGeom>
          <a:blipFill>
            <a:blip r:embed="rId12"/>
            <a:stretch>
              <a:fillRect/>
            </a:stretch>
          </a:blipFill>
        </p:spPr>
        <p:txBody>
          <a:bodyPr/>
          <a:lstStyle/>
          <a:p>
            <a:endParaRPr lang="bg-BG"/>
          </a:p>
        </p:txBody>
      </p:sp>
      <p:sp>
        <p:nvSpPr>
          <p:cNvPr id="14" name="TextBox 14"/>
          <p:cNvSpPr txBox="1"/>
          <p:nvPr/>
        </p:nvSpPr>
        <p:spPr>
          <a:xfrm>
            <a:off x="8483087" y="5470203"/>
            <a:ext cx="2894049" cy="385232"/>
          </a:xfrm>
          <a:prstGeom prst="rect">
            <a:avLst/>
          </a:prstGeom>
        </p:spPr>
        <p:txBody>
          <a:bodyPr lIns="0" tIns="0" rIns="0" bIns="0" rtlCol="0" anchor="t">
            <a:spAutoFit/>
          </a:bodyPr>
          <a:lstStyle/>
          <a:p>
            <a:pPr algn="ctr">
              <a:lnSpc>
                <a:spcPts val="2999"/>
              </a:lnSpc>
              <a:spcBef>
                <a:spcPct val="0"/>
              </a:spcBef>
            </a:pPr>
            <a:r>
              <a:rPr lang="en-US" sz="2777" b="1">
                <a:solidFill>
                  <a:srgbClr val="FFFFFF"/>
                </a:solidFill>
                <a:latin typeface="Raleway Bold"/>
                <a:ea typeface="Raleway Bold"/>
                <a:cs typeface="Raleway Bold"/>
                <a:sym typeface="Raleway Bold"/>
              </a:rPr>
              <a:t>Idea </a:t>
            </a:r>
          </a:p>
        </p:txBody>
      </p:sp>
      <p:sp>
        <p:nvSpPr>
          <p:cNvPr id="15" name="TextBox 15"/>
          <p:cNvSpPr txBox="1"/>
          <p:nvPr/>
        </p:nvSpPr>
        <p:spPr>
          <a:xfrm>
            <a:off x="7801296" y="3761150"/>
            <a:ext cx="681791" cy="597068"/>
          </a:xfrm>
          <a:prstGeom prst="rect">
            <a:avLst/>
          </a:prstGeom>
        </p:spPr>
        <p:txBody>
          <a:bodyPr lIns="0" tIns="0" rIns="0" bIns="0" rtlCol="0" anchor="t">
            <a:spAutoFit/>
          </a:bodyPr>
          <a:lstStyle/>
          <a:p>
            <a:pPr algn="ctr">
              <a:lnSpc>
                <a:spcPts val="4511"/>
              </a:lnSpc>
              <a:spcBef>
                <a:spcPct val="0"/>
              </a:spcBef>
            </a:pPr>
            <a:r>
              <a:rPr lang="en-US" sz="4177" b="1">
                <a:solidFill>
                  <a:srgbClr val="FFFFFF"/>
                </a:solidFill>
                <a:latin typeface="Raleway Bold"/>
                <a:ea typeface="Raleway Bold"/>
                <a:cs typeface="Raleway Bold"/>
                <a:sym typeface="Raleway Bold"/>
              </a:rPr>
              <a:t>2.</a:t>
            </a:r>
          </a:p>
        </p:txBody>
      </p:sp>
      <p:sp>
        <p:nvSpPr>
          <p:cNvPr id="16" name="Freeform 16"/>
          <p:cNvSpPr/>
          <p:nvPr/>
        </p:nvSpPr>
        <p:spPr>
          <a:xfrm>
            <a:off x="13227678" y="36760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bg-BG"/>
          </a:p>
        </p:txBody>
      </p:sp>
      <p:sp>
        <p:nvSpPr>
          <p:cNvPr id="17" name="Freeform 17"/>
          <p:cNvSpPr/>
          <p:nvPr/>
        </p:nvSpPr>
        <p:spPr>
          <a:xfrm>
            <a:off x="12882519" y="3413023"/>
            <a:ext cx="1347336" cy="1503304"/>
          </a:xfrm>
          <a:custGeom>
            <a:avLst/>
            <a:gdLst/>
            <a:ahLst/>
            <a:cxnLst/>
            <a:rect l="l" t="t" r="r" b="b"/>
            <a:pathLst>
              <a:path w="1347336" h="1503304">
                <a:moveTo>
                  <a:pt x="0" y="0"/>
                </a:moveTo>
                <a:lnTo>
                  <a:pt x="1347336" y="0"/>
                </a:lnTo>
                <a:lnTo>
                  <a:pt x="1347336" y="1503303"/>
                </a:lnTo>
                <a:lnTo>
                  <a:pt x="0" y="1503303"/>
                </a:lnTo>
                <a:lnTo>
                  <a:pt x="0" y="0"/>
                </a:lnTo>
                <a:close/>
              </a:path>
            </a:pathLst>
          </a:custGeom>
          <a:blipFill>
            <a:blip r:embed="rId12"/>
            <a:stretch>
              <a:fillRect/>
            </a:stretch>
          </a:blipFill>
        </p:spPr>
        <p:txBody>
          <a:bodyPr/>
          <a:lstStyle/>
          <a:p>
            <a:endParaRPr lang="bg-BG"/>
          </a:p>
        </p:txBody>
      </p:sp>
      <p:sp>
        <p:nvSpPr>
          <p:cNvPr id="18" name="TextBox 18"/>
          <p:cNvSpPr txBox="1"/>
          <p:nvPr/>
        </p:nvSpPr>
        <p:spPr>
          <a:xfrm>
            <a:off x="14229855" y="5470203"/>
            <a:ext cx="2561721" cy="756707"/>
          </a:xfrm>
          <a:prstGeom prst="rect">
            <a:avLst/>
          </a:prstGeom>
        </p:spPr>
        <p:txBody>
          <a:bodyPr lIns="0" tIns="0" rIns="0" bIns="0" rtlCol="0" anchor="t">
            <a:spAutoFit/>
          </a:bodyPr>
          <a:lstStyle/>
          <a:p>
            <a:pPr algn="ctr">
              <a:lnSpc>
                <a:spcPts val="2999"/>
              </a:lnSpc>
              <a:spcBef>
                <a:spcPct val="0"/>
              </a:spcBef>
            </a:pPr>
            <a:r>
              <a:rPr lang="en-US" sz="2777" b="1">
                <a:solidFill>
                  <a:srgbClr val="FFFFFF"/>
                </a:solidFill>
                <a:latin typeface="Raleway Bold"/>
                <a:ea typeface="Raleway Bold"/>
                <a:cs typeface="Raleway Bold"/>
                <a:sym typeface="Raleway Bold"/>
              </a:rPr>
              <a:t>Process &amp; Technologies</a:t>
            </a:r>
          </a:p>
        </p:txBody>
      </p:sp>
      <p:sp>
        <p:nvSpPr>
          <p:cNvPr id="19" name="TextBox 19"/>
          <p:cNvSpPr txBox="1"/>
          <p:nvPr/>
        </p:nvSpPr>
        <p:spPr>
          <a:xfrm>
            <a:off x="13251855" y="3761150"/>
            <a:ext cx="681791" cy="597068"/>
          </a:xfrm>
          <a:prstGeom prst="rect">
            <a:avLst/>
          </a:prstGeom>
        </p:spPr>
        <p:txBody>
          <a:bodyPr lIns="0" tIns="0" rIns="0" bIns="0" rtlCol="0" anchor="t">
            <a:spAutoFit/>
          </a:bodyPr>
          <a:lstStyle/>
          <a:p>
            <a:pPr algn="ctr">
              <a:lnSpc>
                <a:spcPts val="4511"/>
              </a:lnSpc>
              <a:spcBef>
                <a:spcPct val="0"/>
              </a:spcBef>
            </a:pPr>
            <a:r>
              <a:rPr lang="en-US" sz="4177" b="1">
                <a:solidFill>
                  <a:srgbClr val="FFFFFF"/>
                </a:solidFill>
                <a:latin typeface="Raleway Bold"/>
                <a:ea typeface="Raleway Bold"/>
                <a:cs typeface="Raleway Bold"/>
                <a:sym typeface="Raleway Bold"/>
              </a:rPr>
              <a:t>3.</a:t>
            </a:r>
          </a:p>
        </p:txBody>
      </p:sp>
      <p:sp>
        <p:nvSpPr>
          <p:cNvPr id="20" name="Freeform 20"/>
          <p:cNvSpPr/>
          <p:nvPr/>
        </p:nvSpPr>
        <p:spPr>
          <a:xfrm rot="-10800000">
            <a:off x="936462" y="859445"/>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21" name="Freeform 21"/>
          <p:cNvSpPr/>
          <p:nvPr/>
        </p:nvSpPr>
        <p:spPr>
          <a:xfrm rot="-10800000">
            <a:off x="1852949" y="859445"/>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3B616F">
                <a:alpha val="100000"/>
              </a:srgbClr>
            </a:gs>
          </a:gsLst>
          <a:lin ang="0"/>
        </a:gradFill>
        <a:effectLst/>
      </p:bgPr>
    </p:bg>
    <p:spTree>
      <p:nvGrpSpPr>
        <p:cNvPr id="1" name=""/>
        <p:cNvGrpSpPr/>
        <p:nvPr/>
      </p:nvGrpSpPr>
      <p:grpSpPr>
        <a:xfrm>
          <a:off x="0" y="0"/>
          <a:ext cx="0" cy="0"/>
          <a:chOff x="0" y="0"/>
          <a:chExt cx="0" cy="0"/>
        </a:xfrm>
      </p:grpSpPr>
      <p:pic>
        <p:nvPicPr>
          <p:cNvPr id="31" name="Picture 30" descr="A close-up of a planet&#10;&#10;AI-generated content may be incorrect.">
            <a:extLst>
              <a:ext uri="{FF2B5EF4-FFF2-40B4-BE49-F238E27FC236}">
                <a16:creationId xmlns:a16="http://schemas.microsoft.com/office/drawing/2014/main" id="{FD088ABF-8CA2-E4AD-D931-8AC2054A428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36000"/>
                    </a14:imgEffect>
                    <a14:imgEffect>
                      <a14:brightnessContrast bright="-27000" contrast="-7000"/>
                    </a14:imgEffect>
                  </a14:imgLayer>
                </a14:imgProps>
              </a:ext>
              <a:ext uri="{28A0092B-C50C-407E-A947-70E740481C1C}">
                <a14:useLocalDpi xmlns:a14="http://schemas.microsoft.com/office/drawing/2010/main" val="0"/>
              </a:ext>
            </a:extLst>
          </a:blip>
          <a:stretch>
            <a:fillRect/>
          </a:stretch>
        </p:blipFill>
        <p:spPr>
          <a:xfrm>
            <a:off x="0" y="1"/>
            <a:ext cx="18287999" cy="10287000"/>
          </a:xfrm>
          <a:prstGeom prst="rect">
            <a:avLst/>
          </a:prstGeom>
        </p:spPr>
      </p:pic>
      <p:sp>
        <p:nvSpPr>
          <p:cNvPr id="2" name="Freeform 2"/>
          <p:cNvSpPr/>
          <p:nvPr/>
        </p:nvSpPr>
        <p:spPr>
          <a:xfrm>
            <a:off x="16419691"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15580083"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4" name="Freeform 4"/>
          <p:cNvSpPr/>
          <p:nvPr/>
        </p:nvSpPr>
        <p:spPr>
          <a:xfrm>
            <a:off x="1776071" y="9014517"/>
            <a:ext cx="2728988" cy="487567"/>
          </a:xfrm>
          <a:custGeom>
            <a:avLst/>
            <a:gdLst/>
            <a:ahLst/>
            <a:cxnLst/>
            <a:rect l="l" t="t" r="r" b="b"/>
            <a:pathLst>
              <a:path w="2728988" h="487567">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5" name="Freeform 5"/>
          <p:cNvSpPr/>
          <p:nvPr/>
        </p:nvSpPr>
        <p:spPr>
          <a:xfrm>
            <a:off x="12804396" y="9014517"/>
            <a:ext cx="4454904" cy="406385"/>
          </a:xfrm>
          <a:custGeom>
            <a:avLst/>
            <a:gdLst/>
            <a:ahLst/>
            <a:cxnLst/>
            <a:rect l="l" t="t" r="r" b="b"/>
            <a:pathLst>
              <a:path w="4454904" h="406385">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TextBox 6"/>
          <p:cNvSpPr txBox="1"/>
          <p:nvPr/>
        </p:nvSpPr>
        <p:spPr>
          <a:xfrm>
            <a:off x="13458263" y="9073308"/>
            <a:ext cx="3147170" cy="298328"/>
          </a:xfrm>
          <a:prstGeom prst="rect">
            <a:avLst/>
          </a:prstGeom>
        </p:spPr>
        <p:txBody>
          <a:bodyPr lIns="0" tIns="0" rIns="0" bIns="0" rtlCol="0" anchor="t">
            <a:spAutoFit/>
          </a:bodyPr>
          <a:lstStyle/>
          <a:p>
            <a:pPr algn="ctr">
              <a:lnSpc>
                <a:spcPts val="2241"/>
              </a:lnSpc>
              <a:spcBef>
                <a:spcPct val="0"/>
              </a:spcBef>
            </a:pPr>
            <a:r>
              <a:rPr lang="en-US" sz="2075">
                <a:solidFill>
                  <a:srgbClr val="00FFFF"/>
                </a:solidFill>
                <a:latin typeface="Gruppo"/>
                <a:ea typeface="Gruppo"/>
                <a:cs typeface="Gruppo"/>
                <a:sym typeface="Gruppo"/>
              </a:rPr>
              <a:t>www.gitgud.com</a:t>
            </a:r>
          </a:p>
        </p:txBody>
      </p:sp>
      <p:sp>
        <p:nvSpPr>
          <p:cNvPr id="7" name="TextBox 7"/>
          <p:cNvSpPr txBox="1"/>
          <p:nvPr/>
        </p:nvSpPr>
        <p:spPr>
          <a:xfrm>
            <a:off x="3435211" y="2025881"/>
            <a:ext cx="11417579" cy="863267"/>
          </a:xfrm>
          <a:prstGeom prst="rect">
            <a:avLst/>
          </a:prstGeom>
        </p:spPr>
        <p:txBody>
          <a:bodyPr lIns="0" tIns="0" rIns="0" bIns="0" rtlCol="0" anchor="t">
            <a:spAutoFit/>
          </a:bodyPr>
          <a:lstStyle/>
          <a:p>
            <a:pPr algn="ctr">
              <a:lnSpc>
                <a:spcPts val="6880"/>
              </a:lnSpc>
            </a:pPr>
            <a:r>
              <a:rPr lang="en-US" sz="5460">
                <a:solidFill>
                  <a:srgbClr val="FFFFFF"/>
                </a:solidFill>
                <a:latin typeface="HK Modular"/>
                <a:ea typeface="HK Modular"/>
                <a:cs typeface="HK Modular"/>
                <a:sym typeface="HK Modular"/>
              </a:rPr>
              <a:t>TEAM</a:t>
            </a:r>
          </a:p>
        </p:txBody>
      </p:sp>
      <p:sp>
        <p:nvSpPr>
          <p:cNvPr id="8" name="TextBox 8"/>
          <p:cNvSpPr txBox="1"/>
          <p:nvPr/>
        </p:nvSpPr>
        <p:spPr>
          <a:xfrm>
            <a:off x="-2050769" y="6001211"/>
            <a:ext cx="13890004" cy="604688"/>
          </a:xfrm>
          <a:prstGeom prst="rect">
            <a:avLst/>
          </a:prstGeom>
        </p:spPr>
        <p:txBody>
          <a:bodyPr lIns="0" tIns="0" rIns="0" bIns="0" rtlCol="0" anchor="t">
            <a:spAutoFit/>
          </a:bodyPr>
          <a:lstStyle/>
          <a:p>
            <a:pPr algn="ctr">
              <a:lnSpc>
                <a:spcPts val="2351"/>
              </a:lnSpc>
            </a:pPr>
            <a:r>
              <a:rPr lang="en-US" sz="2177">
                <a:solidFill>
                  <a:srgbClr val="FFFFFF"/>
                </a:solidFill>
                <a:latin typeface="Raleway Light"/>
                <a:ea typeface="Raleway Light"/>
                <a:cs typeface="Raleway Light"/>
                <a:sym typeface="Raleway Light"/>
              </a:rPr>
              <a:t>Beloslava Ileva</a:t>
            </a:r>
          </a:p>
          <a:p>
            <a:pPr algn="ctr">
              <a:lnSpc>
                <a:spcPts val="2351"/>
              </a:lnSpc>
              <a:spcBef>
                <a:spcPct val="0"/>
              </a:spcBef>
            </a:pPr>
            <a:r>
              <a:rPr lang="en-US" sz="2177">
                <a:solidFill>
                  <a:srgbClr val="FFFFFF"/>
                </a:solidFill>
                <a:latin typeface="Raleway Light"/>
                <a:ea typeface="Raleway Light"/>
                <a:cs typeface="Raleway Light"/>
                <a:sym typeface="Raleway Light"/>
              </a:rPr>
              <a:t>Scrum trainer</a:t>
            </a:r>
          </a:p>
        </p:txBody>
      </p:sp>
      <p:grpSp>
        <p:nvGrpSpPr>
          <p:cNvPr id="9" name="Group 9"/>
          <p:cNvGrpSpPr>
            <a:grpSpLocks noChangeAspect="1"/>
          </p:cNvGrpSpPr>
          <p:nvPr/>
        </p:nvGrpSpPr>
        <p:grpSpPr>
          <a:xfrm>
            <a:off x="3704410" y="3217197"/>
            <a:ext cx="2441114" cy="2441114"/>
            <a:chOff x="0" y="0"/>
            <a:chExt cx="14840029" cy="14840029"/>
          </a:xfrm>
        </p:grpSpPr>
        <p:sp>
          <p:nvSpPr>
            <p:cNvPr id="10" name="Freeform 10"/>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txBody>
            <a:bodyPr/>
            <a:lstStyle/>
            <a:p>
              <a:endParaRPr lang="bg-BG"/>
            </a:p>
          </p:txBody>
        </p:sp>
        <p:sp>
          <p:nvSpPr>
            <p:cNvPr id="11" name="Freeform 11"/>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txBody>
            <a:bodyPr/>
            <a:lstStyle/>
            <a:p>
              <a:endParaRPr lang="bg-BG"/>
            </a:p>
          </p:txBody>
        </p:sp>
        <p:sp>
          <p:nvSpPr>
            <p:cNvPr id="12" name="Freeform 12"/>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0"/>
              <a:stretch>
                <a:fillRect l="223" r="223"/>
              </a:stretch>
            </a:blipFill>
          </p:spPr>
          <p:txBody>
            <a:bodyPr/>
            <a:lstStyle/>
            <a:p>
              <a:endParaRPr lang="bg-BG"/>
            </a:p>
          </p:txBody>
        </p:sp>
      </p:grpSp>
      <p:grpSp>
        <p:nvGrpSpPr>
          <p:cNvPr id="13" name="Group 13"/>
          <p:cNvGrpSpPr>
            <a:grpSpLocks noChangeAspect="1"/>
          </p:cNvGrpSpPr>
          <p:nvPr/>
        </p:nvGrpSpPr>
        <p:grpSpPr>
          <a:xfrm>
            <a:off x="6553290" y="3217197"/>
            <a:ext cx="2441114" cy="2441114"/>
            <a:chOff x="0" y="0"/>
            <a:chExt cx="14840029" cy="14840029"/>
          </a:xfrm>
        </p:grpSpPr>
        <p:sp>
          <p:nvSpPr>
            <p:cNvPr id="14" name="Freeform 14"/>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txBody>
            <a:bodyPr/>
            <a:lstStyle/>
            <a:p>
              <a:endParaRPr lang="bg-BG"/>
            </a:p>
          </p:txBody>
        </p:sp>
        <p:sp>
          <p:nvSpPr>
            <p:cNvPr id="15" name="Freeform 15"/>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txBody>
            <a:bodyPr/>
            <a:lstStyle/>
            <a:p>
              <a:endParaRPr lang="bg-BG"/>
            </a:p>
          </p:txBody>
        </p:sp>
        <p:sp>
          <p:nvSpPr>
            <p:cNvPr id="16" name="Freeform 16"/>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1"/>
              <a:stretch>
                <a:fillRect l="223" r="223"/>
              </a:stretch>
            </a:blipFill>
          </p:spPr>
          <p:txBody>
            <a:bodyPr/>
            <a:lstStyle/>
            <a:p>
              <a:endParaRPr lang="bg-BG"/>
            </a:p>
          </p:txBody>
        </p:sp>
      </p:grpSp>
      <p:grpSp>
        <p:nvGrpSpPr>
          <p:cNvPr id="17" name="Group 17"/>
          <p:cNvGrpSpPr>
            <a:grpSpLocks noChangeAspect="1"/>
          </p:cNvGrpSpPr>
          <p:nvPr/>
        </p:nvGrpSpPr>
        <p:grpSpPr>
          <a:xfrm>
            <a:off x="9398121" y="3217197"/>
            <a:ext cx="2441114" cy="2441114"/>
            <a:chOff x="0" y="0"/>
            <a:chExt cx="14840029" cy="14840029"/>
          </a:xfrm>
        </p:grpSpPr>
        <p:sp>
          <p:nvSpPr>
            <p:cNvPr id="18" name="Freeform 18"/>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txBody>
            <a:bodyPr/>
            <a:lstStyle/>
            <a:p>
              <a:endParaRPr lang="bg-BG"/>
            </a:p>
          </p:txBody>
        </p:sp>
        <p:sp>
          <p:nvSpPr>
            <p:cNvPr id="19" name="Freeform 19"/>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txBody>
            <a:bodyPr/>
            <a:lstStyle/>
            <a:p>
              <a:endParaRPr lang="bg-BG"/>
            </a:p>
          </p:txBody>
        </p:sp>
        <p:sp>
          <p:nvSpPr>
            <p:cNvPr id="20" name="Freeform 20"/>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2"/>
              <a:stretch>
                <a:fillRect l="223" r="223"/>
              </a:stretch>
            </a:blipFill>
          </p:spPr>
          <p:txBody>
            <a:bodyPr/>
            <a:lstStyle/>
            <a:p>
              <a:endParaRPr lang="bg-BG"/>
            </a:p>
          </p:txBody>
        </p:sp>
      </p:grpSp>
      <p:grpSp>
        <p:nvGrpSpPr>
          <p:cNvPr id="21" name="Group 21"/>
          <p:cNvGrpSpPr>
            <a:grpSpLocks noChangeAspect="1"/>
          </p:cNvGrpSpPr>
          <p:nvPr/>
        </p:nvGrpSpPr>
        <p:grpSpPr>
          <a:xfrm>
            <a:off x="12411676" y="3217197"/>
            <a:ext cx="2441114" cy="2441114"/>
            <a:chOff x="0" y="0"/>
            <a:chExt cx="14840029" cy="14840029"/>
          </a:xfrm>
        </p:grpSpPr>
        <p:sp>
          <p:nvSpPr>
            <p:cNvPr id="22" name="Freeform 22"/>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txBody>
            <a:bodyPr/>
            <a:lstStyle/>
            <a:p>
              <a:endParaRPr lang="bg-BG"/>
            </a:p>
          </p:txBody>
        </p:sp>
        <p:sp>
          <p:nvSpPr>
            <p:cNvPr id="23" name="Freeform 23"/>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txBody>
            <a:bodyPr/>
            <a:lstStyle/>
            <a:p>
              <a:endParaRPr lang="bg-BG"/>
            </a:p>
          </p:txBody>
        </p:sp>
        <p:sp>
          <p:nvSpPr>
            <p:cNvPr id="24" name="Freeform 24"/>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3"/>
              <a:stretch>
                <a:fillRect l="223" r="223"/>
              </a:stretch>
            </a:blipFill>
          </p:spPr>
          <p:txBody>
            <a:bodyPr/>
            <a:lstStyle/>
            <a:p>
              <a:endParaRPr lang="bg-BG"/>
            </a:p>
          </p:txBody>
        </p:sp>
      </p:grpSp>
      <p:sp>
        <p:nvSpPr>
          <p:cNvPr id="25" name="TextBox 25"/>
          <p:cNvSpPr txBox="1"/>
          <p:nvPr/>
        </p:nvSpPr>
        <p:spPr>
          <a:xfrm>
            <a:off x="828845" y="6001211"/>
            <a:ext cx="13890004" cy="604688"/>
          </a:xfrm>
          <a:prstGeom prst="rect">
            <a:avLst/>
          </a:prstGeom>
        </p:spPr>
        <p:txBody>
          <a:bodyPr lIns="0" tIns="0" rIns="0" bIns="0" rtlCol="0" anchor="t">
            <a:spAutoFit/>
          </a:bodyPr>
          <a:lstStyle/>
          <a:p>
            <a:pPr algn="ctr">
              <a:lnSpc>
                <a:spcPts val="2351"/>
              </a:lnSpc>
            </a:pPr>
            <a:r>
              <a:rPr lang="en-US" sz="2177">
                <a:solidFill>
                  <a:srgbClr val="FFFFFF"/>
                </a:solidFill>
                <a:latin typeface="Raleway Light"/>
                <a:ea typeface="Raleway Light"/>
                <a:cs typeface="Raleway Light"/>
                <a:sym typeface="Raleway Light"/>
              </a:rPr>
              <a:t>Ivelin Metodiev</a:t>
            </a:r>
          </a:p>
          <a:p>
            <a:pPr algn="ctr">
              <a:lnSpc>
                <a:spcPts val="2351"/>
              </a:lnSpc>
              <a:spcBef>
                <a:spcPct val="0"/>
              </a:spcBef>
            </a:pPr>
            <a:r>
              <a:rPr lang="en-US" sz="2177">
                <a:solidFill>
                  <a:srgbClr val="FFFFFF"/>
                </a:solidFill>
                <a:latin typeface="Raleway Light"/>
                <a:ea typeface="Raleway Light"/>
                <a:cs typeface="Raleway Light"/>
                <a:sym typeface="Raleway Light"/>
              </a:rPr>
              <a:t>Front-End Developer</a:t>
            </a:r>
          </a:p>
        </p:txBody>
      </p:sp>
      <p:sp>
        <p:nvSpPr>
          <p:cNvPr id="26" name="TextBox 26"/>
          <p:cNvSpPr txBox="1"/>
          <p:nvPr/>
        </p:nvSpPr>
        <p:spPr>
          <a:xfrm>
            <a:off x="3673676" y="6001211"/>
            <a:ext cx="13890004" cy="604688"/>
          </a:xfrm>
          <a:prstGeom prst="rect">
            <a:avLst/>
          </a:prstGeom>
        </p:spPr>
        <p:txBody>
          <a:bodyPr lIns="0" tIns="0" rIns="0" bIns="0" rtlCol="0" anchor="t">
            <a:spAutoFit/>
          </a:bodyPr>
          <a:lstStyle/>
          <a:p>
            <a:pPr algn="ctr">
              <a:lnSpc>
                <a:spcPts val="2351"/>
              </a:lnSpc>
            </a:pPr>
            <a:r>
              <a:rPr lang="en-US" sz="2177">
                <a:solidFill>
                  <a:srgbClr val="FFFFFF"/>
                </a:solidFill>
                <a:latin typeface="Raleway Light"/>
                <a:ea typeface="Raleway Light"/>
                <a:cs typeface="Raleway Light"/>
                <a:sym typeface="Raleway Light"/>
              </a:rPr>
              <a:t>Ivayla Keserdzhieva</a:t>
            </a:r>
          </a:p>
          <a:p>
            <a:pPr algn="ctr">
              <a:lnSpc>
                <a:spcPts val="2351"/>
              </a:lnSpc>
              <a:spcBef>
                <a:spcPct val="0"/>
              </a:spcBef>
            </a:pPr>
            <a:r>
              <a:rPr lang="en-US" sz="2177">
                <a:solidFill>
                  <a:srgbClr val="FFFFFF"/>
                </a:solidFill>
                <a:latin typeface="Raleway Light"/>
                <a:ea typeface="Raleway Light"/>
                <a:cs typeface="Raleway Light"/>
                <a:sym typeface="Raleway Light"/>
              </a:rPr>
              <a:t>Back-End Developer</a:t>
            </a:r>
          </a:p>
        </p:txBody>
      </p:sp>
      <p:sp>
        <p:nvSpPr>
          <p:cNvPr id="27" name="TextBox 27"/>
          <p:cNvSpPr txBox="1"/>
          <p:nvPr/>
        </p:nvSpPr>
        <p:spPr>
          <a:xfrm>
            <a:off x="6687231" y="6001211"/>
            <a:ext cx="13890004" cy="604688"/>
          </a:xfrm>
          <a:prstGeom prst="rect">
            <a:avLst/>
          </a:prstGeom>
        </p:spPr>
        <p:txBody>
          <a:bodyPr lIns="0" tIns="0" rIns="0" bIns="0" rtlCol="0" anchor="t">
            <a:spAutoFit/>
          </a:bodyPr>
          <a:lstStyle/>
          <a:p>
            <a:pPr algn="ctr">
              <a:lnSpc>
                <a:spcPts val="2351"/>
              </a:lnSpc>
            </a:pPr>
            <a:r>
              <a:rPr lang="en-US" sz="2177">
                <a:solidFill>
                  <a:srgbClr val="FFFFFF"/>
                </a:solidFill>
                <a:latin typeface="Raleway Light"/>
                <a:ea typeface="Raleway Light"/>
                <a:cs typeface="Raleway Light"/>
                <a:sym typeface="Raleway Light"/>
              </a:rPr>
              <a:t>Ekaterina Zalinskaya</a:t>
            </a:r>
          </a:p>
          <a:p>
            <a:pPr algn="ctr">
              <a:lnSpc>
                <a:spcPts val="2351"/>
              </a:lnSpc>
              <a:spcBef>
                <a:spcPct val="0"/>
              </a:spcBef>
            </a:pPr>
            <a:r>
              <a:rPr lang="en-US" sz="2177">
                <a:solidFill>
                  <a:srgbClr val="FFFFFF"/>
                </a:solidFill>
                <a:latin typeface="Raleway Light"/>
                <a:ea typeface="Raleway Light"/>
                <a:cs typeface="Raleway Light"/>
                <a:sym typeface="Raleway Light"/>
              </a:rPr>
              <a:t>Designer</a:t>
            </a:r>
          </a:p>
        </p:txBody>
      </p:sp>
      <p:sp>
        <p:nvSpPr>
          <p:cNvPr id="28" name="Freeform 28"/>
          <p:cNvSpPr/>
          <p:nvPr/>
        </p:nvSpPr>
        <p:spPr>
          <a:xfrm rot="-10800000">
            <a:off x="828845"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29" name="Freeform 29"/>
          <p:cNvSpPr/>
          <p:nvPr/>
        </p:nvSpPr>
        <p:spPr>
          <a:xfrm rot="-10800000">
            <a:off x="1668454"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3B616F">
                <a:alpha val="100000"/>
              </a:srgbClr>
            </a:gs>
          </a:gsLst>
          <a:lin ang="0"/>
        </a:gradFill>
        <a:effectLst/>
      </p:bgPr>
    </p:bg>
    <p:spTree>
      <p:nvGrpSpPr>
        <p:cNvPr id="1" name=""/>
        <p:cNvGrpSpPr/>
        <p:nvPr/>
      </p:nvGrpSpPr>
      <p:grpSpPr>
        <a:xfrm>
          <a:off x="0" y="0"/>
          <a:ext cx="0" cy="0"/>
          <a:chOff x="0" y="0"/>
          <a:chExt cx="0" cy="0"/>
        </a:xfrm>
      </p:grpSpPr>
      <p:pic>
        <p:nvPicPr>
          <p:cNvPr id="12" name="Picture 11" descr="A blue and white digital background&#10;&#10;AI-generated content may be incorrect.">
            <a:extLst>
              <a:ext uri="{FF2B5EF4-FFF2-40B4-BE49-F238E27FC236}">
                <a16:creationId xmlns:a16="http://schemas.microsoft.com/office/drawing/2014/main" id="{93DB44C1-18CB-2570-B6BC-68D235E5208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Freeform 2"/>
          <p:cNvSpPr/>
          <p:nvPr/>
        </p:nvSpPr>
        <p:spPr>
          <a:xfrm>
            <a:off x="16419691"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15580083"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4" name="Freeform 4"/>
          <p:cNvSpPr/>
          <p:nvPr/>
        </p:nvSpPr>
        <p:spPr>
          <a:xfrm>
            <a:off x="1776071" y="9014517"/>
            <a:ext cx="2728988" cy="487567"/>
          </a:xfrm>
          <a:custGeom>
            <a:avLst/>
            <a:gdLst/>
            <a:ahLst/>
            <a:cxnLst/>
            <a:rect l="l" t="t" r="r" b="b"/>
            <a:pathLst>
              <a:path w="2728988" h="487567">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5" name="Freeform 5"/>
          <p:cNvSpPr/>
          <p:nvPr/>
        </p:nvSpPr>
        <p:spPr>
          <a:xfrm>
            <a:off x="12804396" y="9014517"/>
            <a:ext cx="4454904" cy="406385"/>
          </a:xfrm>
          <a:custGeom>
            <a:avLst/>
            <a:gdLst/>
            <a:ahLst/>
            <a:cxnLst/>
            <a:rect l="l" t="t" r="r" b="b"/>
            <a:pathLst>
              <a:path w="4454904" h="406385">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TextBox 6"/>
          <p:cNvSpPr txBox="1"/>
          <p:nvPr/>
        </p:nvSpPr>
        <p:spPr>
          <a:xfrm>
            <a:off x="13458263" y="9073308"/>
            <a:ext cx="3147170" cy="298328"/>
          </a:xfrm>
          <a:prstGeom prst="rect">
            <a:avLst/>
          </a:prstGeom>
        </p:spPr>
        <p:txBody>
          <a:bodyPr lIns="0" tIns="0" rIns="0" bIns="0" rtlCol="0" anchor="t">
            <a:spAutoFit/>
          </a:bodyPr>
          <a:lstStyle/>
          <a:p>
            <a:pPr algn="ctr">
              <a:lnSpc>
                <a:spcPts val="2241"/>
              </a:lnSpc>
              <a:spcBef>
                <a:spcPct val="0"/>
              </a:spcBef>
            </a:pPr>
            <a:r>
              <a:rPr lang="en-US" sz="2075">
                <a:solidFill>
                  <a:srgbClr val="00FFFF"/>
                </a:solidFill>
                <a:latin typeface="Gruppo"/>
                <a:ea typeface="Gruppo"/>
                <a:cs typeface="Gruppo"/>
                <a:sym typeface="Gruppo"/>
              </a:rPr>
              <a:t>www.gitgud.com</a:t>
            </a:r>
          </a:p>
        </p:txBody>
      </p:sp>
      <p:sp>
        <p:nvSpPr>
          <p:cNvPr id="7" name="TextBox 7"/>
          <p:cNvSpPr txBox="1"/>
          <p:nvPr/>
        </p:nvSpPr>
        <p:spPr>
          <a:xfrm>
            <a:off x="3581400" y="4713099"/>
            <a:ext cx="8056247" cy="860801"/>
          </a:xfrm>
          <a:prstGeom prst="rect">
            <a:avLst/>
          </a:prstGeom>
        </p:spPr>
        <p:txBody>
          <a:bodyPr lIns="0" tIns="0" rIns="0" bIns="0" rtlCol="0" anchor="t">
            <a:spAutoFit/>
          </a:bodyPr>
          <a:lstStyle/>
          <a:p>
            <a:pPr algn="l">
              <a:lnSpc>
                <a:spcPts val="6880"/>
              </a:lnSpc>
            </a:pPr>
            <a:r>
              <a:rPr lang="en-US" sz="5460" dirty="0">
                <a:solidFill>
                  <a:srgbClr val="FFFFFF"/>
                </a:solidFill>
                <a:latin typeface="HK Modular"/>
                <a:ea typeface="HK Modular"/>
                <a:cs typeface="HK Modular"/>
                <a:sym typeface="HK Modular"/>
              </a:rPr>
              <a:t>IDEA</a:t>
            </a:r>
          </a:p>
        </p:txBody>
      </p:sp>
      <p:sp>
        <p:nvSpPr>
          <p:cNvPr id="9" name="Freeform 9"/>
          <p:cNvSpPr/>
          <p:nvPr/>
        </p:nvSpPr>
        <p:spPr>
          <a:xfrm rot="-10800000">
            <a:off x="785817"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10" name="Freeform 10"/>
          <p:cNvSpPr/>
          <p:nvPr/>
        </p:nvSpPr>
        <p:spPr>
          <a:xfrm rot="-10800000">
            <a:off x="1776071"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20" name="Текстово поле 19"/>
          <p:cNvSpPr txBox="1"/>
          <p:nvPr/>
        </p:nvSpPr>
        <p:spPr>
          <a:xfrm>
            <a:off x="9525000" y="3127242"/>
            <a:ext cx="6705600" cy="4401205"/>
          </a:xfrm>
          <a:prstGeom prst="rect">
            <a:avLst/>
          </a:prstGeom>
          <a:noFill/>
        </p:spPr>
        <p:txBody>
          <a:bodyPr wrap="square" rtlCol="0">
            <a:spAutoFit/>
          </a:bodyPr>
          <a:lstStyle/>
          <a:p>
            <a:r>
              <a:rPr lang="en-US" sz="2800" dirty="0" smtClean="0">
                <a:solidFill>
                  <a:schemeClr val="bg1"/>
                </a:solidFill>
                <a:latin typeface="+mj-lt"/>
              </a:rPr>
              <a:t>Our </a:t>
            </a:r>
            <a:r>
              <a:rPr lang="en-US" sz="2800" dirty="0">
                <a:solidFill>
                  <a:schemeClr val="bg1"/>
                </a:solidFill>
                <a:latin typeface="+mj-lt"/>
              </a:rPr>
              <a:t>mission is to create an interactive online school. Our platform is designed to make learning not only easier but also more enjoyable. Through tests, students can assess their knowledge, while additional exercises provide extra preparation for those who want to deepen their understanding. To enhance the learning experience, we also offer 3D models that help simplify complex concepts.</a:t>
            </a:r>
            <a:endParaRPr lang="bg-BG" sz="2800" dirty="0">
              <a:solidFill>
                <a:schemeClr val="bg1"/>
              </a:solidFill>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3B616F">
                <a:alpha val="100000"/>
              </a:srgbClr>
            </a:gs>
          </a:gsLst>
          <a:lin ang="0"/>
        </a:gradFill>
        <a:effectLst/>
      </p:bgPr>
    </p:bg>
    <p:spTree>
      <p:nvGrpSpPr>
        <p:cNvPr id="1" name=""/>
        <p:cNvGrpSpPr/>
        <p:nvPr/>
      </p:nvGrpSpPr>
      <p:grpSpPr>
        <a:xfrm>
          <a:off x="0" y="0"/>
          <a:ext cx="0" cy="0"/>
          <a:chOff x="0" y="0"/>
          <a:chExt cx="0" cy="0"/>
        </a:xfrm>
      </p:grpSpPr>
      <p:pic>
        <p:nvPicPr>
          <p:cNvPr id="23" name="Picture 22" descr="A blue grid with white lines&#10;&#10;AI-generated content may be incorrect.">
            <a:extLst>
              <a:ext uri="{FF2B5EF4-FFF2-40B4-BE49-F238E27FC236}">
                <a16:creationId xmlns:a16="http://schemas.microsoft.com/office/drawing/2014/main" id="{24AB9B6D-4F8B-184E-4FEC-9E110B7AAA6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6000"/>
                    </a14:imgEffect>
                    <a14:imgEffect>
                      <a14:saturation sat="66000"/>
                    </a14:imgEffect>
                    <a14:imgEffect>
                      <a14:brightnessContrast bright="-52000" contrast="-19000"/>
                    </a14:imgEffect>
                  </a14:imgLayer>
                </a14:imgProps>
              </a:ex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Freeform 2"/>
          <p:cNvSpPr/>
          <p:nvPr/>
        </p:nvSpPr>
        <p:spPr>
          <a:xfrm>
            <a:off x="16419691"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15580083"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4" name="Freeform 4"/>
          <p:cNvSpPr/>
          <p:nvPr/>
        </p:nvSpPr>
        <p:spPr>
          <a:xfrm>
            <a:off x="1776071" y="9014517"/>
            <a:ext cx="2728988" cy="487567"/>
          </a:xfrm>
          <a:custGeom>
            <a:avLst/>
            <a:gdLst/>
            <a:ahLst/>
            <a:cxnLst/>
            <a:rect l="l" t="t" r="r" b="b"/>
            <a:pathLst>
              <a:path w="2728988" h="487567">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5" name="Freeform 5"/>
          <p:cNvSpPr/>
          <p:nvPr/>
        </p:nvSpPr>
        <p:spPr>
          <a:xfrm>
            <a:off x="12804396" y="9014517"/>
            <a:ext cx="4454904" cy="406385"/>
          </a:xfrm>
          <a:custGeom>
            <a:avLst/>
            <a:gdLst/>
            <a:ahLst/>
            <a:cxnLst/>
            <a:rect l="l" t="t" r="r" b="b"/>
            <a:pathLst>
              <a:path w="4454904" h="406385">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Freeform 6"/>
          <p:cNvSpPr/>
          <p:nvPr/>
        </p:nvSpPr>
        <p:spPr>
          <a:xfrm>
            <a:off x="1776071" y="3120832"/>
            <a:ext cx="984533" cy="1566814"/>
          </a:xfrm>
          <a:custGeom>
            <a:avLst/>
            <a:gdLst/>
            <a:ahLst/>
            <a:cxnLst/>
            <a:rect l="l" t="t" r="r" b="b"/>
            <a:pathLst>
              <a:path w="984533" h="1566814">
                <a:moveTo>
                  <a:pt x="0" y="0"/>
                </a:moveTo>
                <a:lnTo>
                  <a:pt x="984533" y="0"/>
                </a:lnTo>
                <a:lnTo>
                  <a:pt x="984533" y="1566814"/>
                </a:lnTo>
                <a:lnTo>
                  <a:pt x="0" y="156681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bg-BG"/>
          </a:p>
        </p:txBody>
      </p:sp>
      <p:sp>
        <p:nvSpPr>
          <p:cNvPr id="7" name="Freeform 7"/>
          <p:cNvSpPr/>
          <p:nvPr/>
        </p:nvSpPr>
        <p:spPr>
          <a:xfrm>
            <a:off x="7679789" y="2413788"/>
            <a:ext cx="1880973" cy="1880973"/>
          </a:xfrm>
          <a:custGeom>
            <a:avLst/>
            <a:gdLst/>
            <a:ahLst/>
            <a:cxnLst/>
            <a:rect l="l" t="t" r="r" b="b"/>
            <a:pathLst>
              <a:path w="1880973" h="1880973">
                <a:moveTo>
                  <a:pt x="0" y="0"/>
                </a:moveTo>
                <a:lnTo>
                  <a:pt x="1880973" y="0"/>
                </a:lnTo>
                <a:lnTo>
                  <a:pt x="1880973" y="1880973"/>
                </a:lnTo>
                <a:lnTo>
                  <a:pt x="0" y="1880973"/>
                </a:lnTo>
                <a:lnTo>
                  <a:pt x="0" y="0"/>
                </a:lnTo>
                <a:close/>
              </a:path>
            </a:pathLst>
          </a:custGeom>
          <a:blipFill>
            <a:blip r:embed="rId12"/>
            <a:stretch>
              <a:fillRect/>
            </a:stretch>
          </a:blipFill>
        </p:spPr>
        <p:txBody>
          <a:bodyPr/>
          <a:lstStyle/>
          <a:p>
            <a:endParaRPr lang="bg-BG"/>
          </a:p>
        </p:txBody>
      </p:sp>
      <p:sp>
        <p:nvSpPr>
          <p:cNvPr id="8" name="Freeform 8"/>
          <p:cNvSpPr/>
          <p:nvPr/>
        </p:nvSpPr>
        <p:spPr>
          <a:xfrm>
            <a:off x="10153208" y="2469684"/>
            <a:ext cx="2164137" cy="1769182"/>
          </a:xfrm>
          <a:custGeom>
            <a:avLst/>
            <a:gdLst/>
            <a:ahLst/>
            <a:cxnLst/>
            <a:rect l="l" t="t" r="r" b="b"/>
            <a:pathLst>
              <a:path w="2164137" h="1769182">
                <a:moveTo>
                  <a:pt x="0" y="0"/>
                </a:moveTo>
                <a:lnTo>
                  <a:pt x="2164137" y="0"/>
                </a:lnTo>
                <a:lnTo>
                  <a:pt x="2164137" y="1769182"/>
                </a:lnTo>
                <a:lnTo>
                  <a:pt x="0" y="1769182"/>
                </a:lnTo>
                <a:lnTo>
                  <a:pt x="0" y="0"/>
                </a:lnTo>
                <a:close/>
              </a:path>
            </a:pathLst>
          </a:custGeom>
          <a:blipFill>
            <a:blip r:embed="rId13"/>
            <a:stretch>
              <a:fillRect/>
            </a:stretch>
          </a:blipFill>
        </p:spPr>
        <p:txBody>
          <a:bodyPr/>
          <a:lstStyle/>
          <a:p>
            <a:endParaRPr lang="bg-BG"/>
          </a:p>
        </p:txBody>
      </p:sp>
      <p:sp>
        <p:nvSpPr>
          <p:cNvPr id="10" name="Freeform 10"/>
          <p:cNvSpPr/>
          <p:nvPr/>
        </p:nvSpPr>
        <p:spPr>
          <a:xfrm>
            <a:off x="15769668" y="2413788"/>
            <a:ext cx="1909856" cy="1777758"/>
          </a:xfrm>
          <a:custGeom>
            <a:avLst/>
            <a:gdLst/>
            <a:ahLst/>
            <a:cxnLst/>
            <a:rect l="l" t="t" r="r" b="b"/>
            <a:pathLst>
              <a:path w="1909856" h="1777758">
                <a:moveTo>
                  <a:pt x="0" y="0"/>
                </a:moveTo>
                <a:lnTo>
                  <a:pt x="1909857" y="0"/>
                </a:lnTo>
                <a:lnTo>
                  <a:pt x="1909857" y="1777758"/>
                </a:lnTo>
                <a:lnTo>
                  <a:pt x="0" y="1777758"/>
                </a:lnTo>
                <a:lnTo>
                  <a:pt x="0" y="0"/>
                </a:lnTo>
                <a:close/>
              </a:path>
            </a:pathLst>
          </a:custGeom>
          <a:blipFill>
            <a:blip r:embed="rId14"/>
            <a:stretch>
              <a:fillRect/>
            </a:stretch>
          </a:blipFill>
        </p:spPr>
        <p:txBody>
          <a:bodyPr/>
          <a:lstStyle/>
          <a:p>
            <a:endParaRPr lang="bg-BG"/>
          </a:p>
        </p:txBody>
      </p:sp>
      <p:sp>
        <p:nvSpPr>
          <p:cNvPr id="11" name="Freeform 11"/>
          <p:cNvSpPr/>
          <p:nvPr/>
        </p:nvSpPr>
        <p:spPr>
          <a:xfrm>
            <a:off x="7849376" y="5758833"/>
            <a:ext cx="1711095" cy="1827958"/>
          </a:xfrm>
          <a:custGeom>
            <a:avLst/>
            <a:gdLst/>
            <a:ahLst/>
            <a:cxnLst/>
            <a:rect l="l" t="t" r="r" b="b"/>
            <a:pathLst>
              <a:path w="1991938" h="1899432">
                <a:moveTo>
                  <a:pt x="0" y="0"/>
                </a:moveTo>
                <a:lnTo>
                  <a:pt x="1991938" y="0"/>
                </a:lnTo>
                <a:lnTo>
                  <a:pt x="1991938" y="1899432"/>
                </a:lnTo>
                <a:lnTo>
                  <a:pt x="0" y="1899432"/>
                </a:lnTo>
                <a:lnTo>
                  <a:pt x="0" y="0"/>
                </a:lnTo>
                <a:close/>
              </a:path>
            </a:pathLst>
          </a:custGeom>
          <a:blipFill>
            <a:blip r:embed="rId15"/>
            <a:stretch>
              <a:fillRect l="-1961" t="-8984" r="-1961"/>
            </a:stretch>
          </a:blipFill>
        </p:spPr>
        <p:txBody>
          <a:bodyPr/>
          <a:lstStyle/>
          <a:p>
            <a:endParaRPr lang="bg-BG"/>
          </a:p>
        </p:txBody>
      </p:sp>
      <p:sp>
        <p:nvSpPr>
          <p:cNvPr id="12" name="Freeform 12"/>
          <p:cNvSpPr/>
          <p:nvPr/>
        </p:nvSpPr>
        <p:spPr>
          <a:xfrm>
            <a:off x="10276773" y="5758834"/>
            <a:ext cx="2040572" cy="1899432"/>
          </a:xfrm>
          <a:custGeom>
            <a:avLst/>
            <a:gdLst/>
            <a:ahLst/>
            <a:cxnLst/>
            <a:rect l="l" t="t" r="r" b="b"/>
            <a:pathLst>
              <a:path w="2040572" h="1899432">
                <a:moveTo>
                  <a:pt x="0" y="0"/>
                </a:moveTo>
                <a:lnTo>
                  <a:pt x="2040572" y="0"/>
                </a:lnTo>
                <a:lnTo>
                  <a:pt x="2040572" y="1899432"/>
                </a:lnTo>
                <a:lnTo>
                  <a:pt x="0" y="1899432"/>
                </a:lnTo>
                <a:lnTo>
                  <a:pt x="0" y="0"/>
                </a:lnTo>
                <a:close/>
              </a:path>
            </a:pathLst>
          </a:custGeom>
          <a:blipFill>
            <a:blip r:embed="rId16"/>
            <a:stretch>
              <a:fillRect/>
            </a:stretch>
          </a:blipFill>
        </p:spPr>
        <p:txBody>
          <a:bodyPr/>
          <a:lstStyle/>
          <a:p>
            <a:endParaRPr lang="bg-BG" dirty="0"/>
          </a:p>
        </p:txBody>
      </p:sp>
      <p:sp>
        <p:nvSpPr>
          <p:cNvPr id="13" name="Freeform 13"/>
          <p:cNvSpPr/>
          <p:nvPr/>
        </p:nvSpPr>
        <p:spPr>
          <a:xfrm>
            <a:off x="13240144" y="5828888"/>
            <a:ext cx="1937078" cy="1937078"/>
          </a:xfrm>
          <a:custGeom>
            <a:avLst/>
            <a:gdLst/>
            <a:ahLst/>
            <a:cxnLst/>
            <a:rect l="l" t="t" r="r" b="b"/>
            <a:pathLst>
              <a:path w="1937078" h="1937078">
                <a:moveTo>
                  <a:pt x="0" y="0"/>
                </a:moveTo>
                <a:lnTo>
                  <a:pt x="1937078" y="0"/>
                </a:lnTo>
                <a:lnTo>
                  <a:pt x="1937078" y="1937078"/>
                </a:lnTo>
                <a:lnTo>
                  <a:pt x="0" y="1937078"/>
                </a:lnTo>
                <a:lnTo>
                  <a:pt x="0" y="0"/>
                </a:lnTo>
                <a:close/>
              </a:path>
            </a:pathLst>
          </a:custGeom>
          <a:blipFill>
            <a:blip r:embed="rId17"/>
            <a:stretch>
              <a:fillRect/>
            </a:stretch>
          </a:blipFill>
        </p:spPr>
        <p:txBody>
          <a:bodyPr/>
          <a:lstStyle/>
          <a:p>
            <a:endParaRPr lang="bg-BG" dirty="0"/>
          </a:p>
        </p:txBody>
      </p:sp>
      <p:sp>
        <p:nvSpPr>
          <p:cNvPr id="14" name="TextBox 14"/>
          <p:cNvSpPr txBox="1"/>
          <p:nvPr/>
        </p:nvSpPr>
        <p:spPr>
          <a:xfrm>
            <a:off x="13458263" y="9073308"/>
            <a:ext cx="3147170" cy="298328"/>
          </a:xfrm>
          <a:prstGeom prst="rect">
            <a:avLst/>
          </a:prstGeom>
        </p:spPr>
        <p:txBody>
          <a:bodyPr lIns="0" tIns="0" rIns="0" bIns="0" rtlCol="0" anchor="t">
            <a:spAutoFit/>
          </a:bodyPr>
          <a:lstStyle/>
          <a:p>
            <a:pPr algn="ctr">
              <a:lnSpc>
                <a:spcPts val="2241"/>
              </a:lnSpc>
              <a:spcBef>
                <a:spcPct val="0"/>
              </a:spcBef>
            </a:pPr>
            <a:r>
              <a:rPr lang="en-US" sz="2075">
                <a:solidFill>
                  <a:srgbClr val="00FFFF"/>
                </a:solidFill>
                <a:latin typeface="Gruppo"/>
                <a:ea typeface="Gruppo"/>
                <a:cs typeface="Gruppo"/>
                <a:sym typeface="Gruppo"/>
              </a:rPr>
              <a:t>www.gitgud.com</a:t>
            </a:r>
          </a:p>
        </p:txBody>
      </p:sp>
      <p:sp>
        <p:nvSpPr>
          <p:cNvPr id="15" name="TextBox 15"/>
          <p:cNvSpPr txBox="1"/>
          <p:nvPr/>
        </p:nvSpPr>
        <p:spPr>
          <a:xfrm>
            <a:off x="1880681" y="4659071"/>
            <a:ext cx="5799109" cy="1827958"/>
          </a:xfrm>
          <a:prstGeom prst="rect">
            <a:avLst/>
          </a:prstGeom>
        </p:spPr>
        <p:txBody>
          <a:bodyPr lIns="0" tIns="0" rIns="0" bIns="0" rtlCol="0" anchor="t">
            <a:spAutoFit/>
          </a:bodyPr>
          <a:lstStyle/>
          <a:p>
            <a:pPr algn="l">
              <a:lnSpc>
                <a:spcPts val="4864"/>
              </a:lnSpc>
            </a:pPr>
            <a:r>
              <a:rPr lang="en-US" sz="3860">
                <a:solidFill>
                  <a:srgbClr val="FFFFFF"/>
                </a:solidFill>
                <a:latin typeface="HK Modular"/>
                <a:ea typeface="HK Modular"/>
                <a:cs typeface="HK Modular"/>
                <a:sym typeface="HK Modular"/>
              </a:rPr>
              <a:t>USED TECHNOLOGIES &amp; PROCCES</a:t>
            </a:r>
          </a:p>
        </p:txBody>
      </p:sp>
      <p:sp>
        <p:nvSpPr>
          <p:cNvPr id="16" name="TextBox 16"/>
          <p:cNvSpPr txBox="1"/>
          <p:nvPr/>
        </p:nvSpPr>
        <p:spPr>
          <a:xfrm>
            <a:off x="7784400" y="4542464"/>
            <a:ext cx="1604439" cy="307777"/>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1 - 4</a:t>
            </a:r>
          </a:p>
        </p:txBody>
      </p:sp>
      <p:sp>
        <p:nvSpPr>
          <p:cNvPr id="17" name="TextBox 17"/>
          <p:cNvSpPr txBox="1"/>
          <p:nvPr/>
        </p:nvSpPr>
        <p:spPr>
          <a:xfrm>
            <a:off x="10670799" y="4485026"/>
            <a:ext cx="1327904" cy="309413"/>
          </a:xfrm>
          <a:prstGeom prst="rect">
            <a:avLst/>
          </a:prstGeom>
        </p:spPr>
        <p:txBody>
          <a:bodyPr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1- 4</a:t>
            </a:r>
          </a:p>
        </p:txBody>
      </p:sp>
      <p:sp>
        <p:nvSpPr>
          <p:cNvPr id="18" name="TextBox 18"/>
          <p:cNvSpPr txBox="1"/>
          <p:nvPr/>
        </p:nvSpPr>
        <p:spPr>
          <a:xfrm>
            <a:off x="13416793" y="4542464"/>
            <a:ext cx="1516736" cy="307777"/>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1 - 4</a:t>
            </a:r>
          </a:p>
        </p:txBody>
      </p:sp>
      <p:sp>
        <p:nvSpPr>
          <p:cNvPr id="19" name="TextBox 19"/>
          <p:cNvSpPr txBox="1"/>
          <p:nvPr/>
        </p:nvSpPr>
        <p:spPr>
          <a:xfrm>
            <a:off x="16351620" y="4542464"/>
            <a:ext cx="1327904" cy="309413"/>
          </a:xfrm>
          <a:prstGeom prst="rect">
            <a:avLst/>
          </a:prstGeom>
        </p:spPr>
        <p:txBody>
          <a:bodyPr lIns="0" tIns="0" rIns="0" bIns="0" rtlCol="0" anchor="t">
            <a:spAutoFit/>
          </a:bodyPr>
          <a:lstStyle/>
          <a:p>
            <a:pPr algn="ctr">
              <a:lnSpc>
                <a:spcPts val="2351"/>
              </a:lnSpc>
              <a:spcBef>
                <a:spcPct val="0"/>
              </a:spcBef>
            </a:pPr>
            <a:r>
              <a:rPr lang="en-US" sz="2177">
                <a:solidFill>
                  <a:srgbClr val="FFFFFF"/>
                </a:solidFill>
                <a:latin typeface="Raleway Light"/>
                <a:ea typeface="Raleway Light"/>
                <a:cs typeface="Raleway Light"/>
                <a:sym typeface="Raleway Light"/>
              </a:rPr>
              <a:t>Week 3</a:t>
            </a:r>
          </a:p>
        </p:txBody>
      </p:sp>
      <p:sp>
        <p:nvSpPr>
          <p:cNvPr id="20" name="TextBox 20"/>
          <p:cNvSpPr txBox="1"/>
          <p:nvPr/>
        </p:nvSpPr>
        <p:spPr>
          <a:xfrm>
            <a:off x="7901502" y="7991814"/>
            <a:ext cx="1658969" cy="307777"/>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1 - 3</a:t>
            </a:r>
          </a:p>
        </p:txBody>
      </p:sp>
      <p:sp>
        <p:nvSpPr>
          <p:cNvPr id="21" name="TextBox 21"/>
          <p:cNvSpPr txBox="1"/>
          <p:nvPr/>
        </p:nvSpPr>
        <p:spPr>
          <a:xfrm>
            <a:off x="10871289" y="7991813"/>
            <a:ext cx="1209306" cy="307777"/>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4</a:t>
            </a:r>
          </a:p>
        </p:txBody>
      </p:sp>
      <p:sp>
        <p:nvSpPr>
          <p:cNvPr id="22" name="TextBox 22"/>
          <p:cNvSpPr txBox="1"/>
          <p:nvPr/>
        </p:nvSpPr>
        <p:spPr>
          <a:xfrm>
            <a:off x="13458263" y="8038265"/>
            <a:ext cx="1559089" cy="309413"/>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1 - 4</a:t>
            </a:r>
          </a:p>
        </p:txBody>
      </p:sp>
      <p:pic>
        <p:nvPicPr>
          <p:cNvPr id="25" name="Picture 24" descr="A blue and white logo&#10;&#10;AI-generated content may be incorrect.">
            <a:extLst>
              <a:ext uri="{FF2B5EF4-FFF2-40B4-BE49-F238E27FC236}">
                <a16:creationId xmlns:a16="http://schemas.microsoft.com/office/drawing/2014/main" id="{F95ADC97-9B75-5782-1B86-D3A9791B5F9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013085" y="2272205"/>
            <a:ext cx="2164137" cy="2164137"/>
          </a:xfrm>
          <a:prstGeom prst="rect">
            <a:avLst/>
          </a:prstGeom>
        </p:spPr>
      </p:pic>
      <p:pic>
        <p:nvPicPr>
          <p:cNvPr id="27" name="Picture 26" descr="A logo with a black background&#10;&#10;AI-generated content may be incorrect.">
            <a:extLst>
              <a:ext uri="{FF2B5EF4-FFF2-40B4-BE49-F238E27FC236}">
                <a16:creationId xmlns:a16="http://schemas.microsoft.com/office/drawing/2014/main" id="{4C469EB9-1631-E47F-9ADB-F6F68C67A37E}"/>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4546405" y="5201159"/>
            <a:ext cx="4664394" cy="3109596"/>
          </a:xfrm>
          <a:prstGeom prst="rect">
            <a:avLst/>
          </a:prstGeom>
        </p:spPr>
      </p:pic>
      <p:sp>
        <p:nvSpPr>
          <p:cNvPr id="28" name="TextBox 22">
            <a:extLst>
              <a:ext uri="{FF2B5EF4-FFF2-40B4-BE49-F238E27FC236}">
                <a16:creationId xmlns:a16="http://schemas.microsoft.com/office/drawing/2014/main" id="{54596A8C-6511-64DF-EE16-B02820D64070}"/>
              </a:ext>
            </a:extLst>
          </p:cNvPr>
          <p:cNvSpPr txBox="1"/>
          <p:nvPr/>
        </p:nvSpPr>
        <p:spPr>
          <a:xfrm>
            <a:off x="16123876" y="8056235"/>
            <a:ext cx="1559089" cy="309413"/>
          </a:xfrm>
          <a:prstGeom prst="rect">
            <a:avLst/>
          </a:prstGeom>
        </p:spPr>
        <p:txBody>
          <a:bodyPr wrap="square" lIns="0" tIns="0" rIns="0" bIns="0" rtlCol="0" anchor="t">
            <a:spAutoFit/>
          </a:bodyPr>
          <a:lstStyle/>
          <a:p>
            <a:pPr algn="ctr">
              <a:lnSpc>
                <a:spcPts val="2351"/>
              </a:lnSpc>
              <a:spcBef>
                <a:spcPct val="0"/>
              </a:spcBef>
            </a:pPr>
            <a:r>
              <a:rPr lang="en-US" sz="2177" dirty="0">
                <a:solidFill>
                  <a:srgbClr val="FFFFFF"/>
                </a:solidFill>
                <a:latin typeface="Raleway Light"/>
                <a:ea typeface="Raleway Light"/>
                <a:cs typeface="Raleway Light"/>
                <a:sym typeface="Raleway Light"/>
              </a:rPr>
              <a:t>Week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C4D">
                <a:alpha val="100000"/>
              </a:srgbClr>
            </a:gs>
            <a:gs pos="100000">
              <a:srgbClr val="000000">
                <a:alpha val="100000"/>
              </a:srgbClr>
            </a:gs>
          </a:gsLst>
          <a:lin ang="0"/>
        </a:gradFill>
        <a:effectLst/>
      </p:bgPr>
    </p:bg>
    <p:spTree>
      <p:nvGrpSpPr>
        <p:cNvPr id="1" name=""/>
        <p:cNvGrpSpPr/>
        <p:nvPr/>
      </p:nvGrpSpPr>
      <p:grpSpPr>
        <a:xfrm>
          <a:off x="0" y="0"/>
          <a:ext cx="0" cy="0"/>
          <a:chOff x="0" y="0"/>
          <a:chExt cx="0" cy="0"/>
        </a:xfrm>
      </p:grpSpPr>
      <p:pic>
        <p:nvPicPr>
          <p:cNvPr id="8" name="Picture 7" descr="A circuit board with many dots&#10;&#10;AI-generated content may be incorrect.">
            <a:extLst>
              <a:ext uri="{FF2B5EF4-FFF2-40B4-BE49-F238E27FC236}">
                <a16:creationId xmlns:a16="http://schemas.microsoft.com/office/drawing/2014/main" id="{CFCE6B3B-AC23-D4DD-C5B4-57233F721A2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Freeform 2"/>
          <p:cNvSpPr/>
          <p:nvPr/>
        </p:nvSpPr>
        <p:spPr>
          <a:xfrm>
            <a:off x="16419691" y="1084613"/>
            <a:ext cx="839609" cy="450336"/>
          </a:xfrm>
          <a:custGeom>
            <a:avLst/>
            <a:gdLst/>
            <a:ahLst/>
            <a:cxnLst/>
            <a:rect l="l" t="t" r="r" b="b"/>
            <a:pathLst>
              <a:path w="839609" h="450336">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3" name="Freeform 3"/>
          <p:cNvSpPr/>
          <p:nvPr/>
        </p:nvSpPr>
        <p:spPr>
          <a:xfrm>
            <a:off x="15580083" y="1084613"/>
            <a:ext cx="839609" cy="450336"/>
          </a:xfrm>
          <a:custGeom>
            <a:avLst/>
            <a:gdLst/>
            <a:ahLst/>
            <a:cxnLst/>
            <a:rect l="l" t="t" r="r" b="b"/>
            <a:pathLst>
              <a:path w="839609" h="450336">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bg-BG"/>
          </a:p>
        </p:txBody>
      </p:sp>
      <p:sp>
        <p:nvSpPr>
          <p:cNvPr id="4" name="Freeform 4"/>
          <p:cNvSpPr/>
          <p:nvPr/>
        </p:nvSpPr>
        <p:spPr>
          <a:xfrm>
            <a:off x="1776071" y="9014517"/>
            <a:ext cx="2728988" cy="487567"/>
          </a:xfrm>
          <a:custGeom>
            <a:avLst/>
            <a:gdLst/>
            <a:ahLst/>
            <a:cxnLst/>
            <a:rect l="l" t="t" r="r" b="b"/>
            <a:pathLst>
              <a:path w="2728988" h="487567">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bg-BG"/>
          </a:p>
        </p:txBody>
      </p:sp>
      <p:sp>
        <p:nvSpPr>
          <p:cNvPr id="5" name="Freeform 5"/>
          <p:cNvSpPr/>
          <p:nvPr/>
        </p:nvSpPr>
        <p:spPr>
          <a:xfrm>
            <a:off x="12804396" y="9014517"/>
            <a:ext cx="4454904" cy="406385"/>
          </a:xfrm>
          <a:custGeom>
            <a:avLst/>
            <a:gdLst/>
            <a:ahLst/>
            <a:cxnLst/>
            <a:rect l="l" t="t" r="r" b="b"/>
            <a:pathLst>
              <a:path w="4454904" h="406385">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bg-BG"/>
          </a:p>
        </p:txBody>
      </p:sp>
      <p:sp>
        <p:nvSpPr>
          <p:cNvPr id="6" name="TextBox 6"/>
          <p:cNvSpPr txBox="1"/>
          <p:nvPr/>
        </p:nvSpPr>
        <p:spPr>
          <a:xfrm>
            <a:off x="13458263" y="9073308"/>
            <a:ext cx="3147170" cy="298328"/>
          </a:xfrm>
          <a:prstGeom prst="rect">
            <a:avLst/>
          </a:prstGeom>
        </p:spPr>
        <p:txBody>
          <a:bodyPr lIns="0" tIns="0" rIns="0" bIns="0" rtlCol="0" anchor="t">
            <a:spAutoFit/>
          </a:bodyPr>
          <a:lstStyle/>
          <a:p>
            <a:pPr algn="ctr">
              <a:lnSpc>
                <a:spcPts val="2241"/>
              </a:lnSpc>
              <a:spcBef>
                <a:spcPct val="0"/>
              </a:spcBef>
            </a:pPr>
            <a:r>
              <a:rPr lang="en-US" sz="2075">
                <a:solidFill>
                  <a:srgbClr val="00FFFF"/>
                </a:solidFill>
                <a:latin typeface="Gruppo"/>
                <a:ea typeface="Gruppo"/>
                <a:cs typeface="Gruppo"/>
                <a:sym typeface="Gruppo"/>
              </a:rPr>
              <a:t>www.gitgud.com</a:t>
            </a:r>
          </a:p>
        </p:txBody>
      </p:sp>
      <p:sp>
        <p:nvSpPr>
          <p:cNvPr id="7" name="TextBox 7"/>
          <p:cNvSpPr txBox="1"/>
          <p:nvPr/>
        </p:nvSpPr>
        <p:spPr>
          <a:xfrm>
            <a:off x="3552241" y="4143739"/>
            <a:ext cx="11183517" cy="1958293"/>
          </a:xfrm>
          <a:prstGeom prst="rect">
            <a:avLst/>
          </a:prstGeom>
        </p:spPr>
        <p:txBody>
          <a:bodyPr lIns="0" tIns="0" rIns="0" bIns="0" rtlCol="0" anchor="t">
            <a:spAutoFit/>
          </a:bodyPr>
          <a:lstStyle/>
          <a:p>
            <a:pPr algn="ctr">
              <a:lnSpc>
                <a:spcPts val="8005"/>
              </a:lnSpc>
            </a:pPr>
            <a:r>
              <a:rPr lang="en-US" sz="6353" dirty="0" smtClean="0">
                <a:solidFill>
                  <a:srgbClr val="FFFFFF"/>
                </a:solidFill>
                <a:latin typeface="HK Modular"/>
                <a:ea typeface="HK Modular"/>
                <a:cs typeface="HK Modular"/>
                <a:sym typeface="HK Modular"/>
              </a:rPr>
              <a:t>LET’s continue to our project</a:t>
            </a:r>
            <a:endParaRPr lang="en-US" sz="6353" dirty="0">
              <a:solidFill>
                <a:srgbClr val="FFFFFF"/>
              </a:solidFill>
              <a:latin typeface="HK Modular"/>
              <a:ea typeface="HK Modular"/>
              <a:cs typeface="HK Modular"/>
              <a:sym typeface="HK Modul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141</Words>
  <Application>Microsoft Office PowerPoint</Application>
  <PresentationFormat>По избор</PresentationFormat>
  <Paragraphs>35</Paragraphs>
  <Slides>6</Slides>
  <Notes>0</Notes>
  <HiddenSlides>0</HiddenSlides>
  <MMClips>0</MMClips>
  <ScaleCrop>false</ScaleCrop>
  <HeadingPairs>
    <vt:vector size="6" baseType="variant">
      <vt:variant>
        <vt:lpstr>Използвани шрифтове</vt:lpstr>
      </vt:variant>
      <vt:variant>
        <vt:i4>6</vt:i4>
      </vt:variant>
      <vt:variant>
        <vt:lpstr>Тема</vt:lpstr>
      </vt:variant>
      <vt:variant>
        <vt:i4>1</vt:i4>
      </vt:variant>
      <vt:variant>
        <vt:lpstr>Заглавия на слайдовете</vt:lpstr>
      </vt:variant>
      <vt:variant>
        <vt:i4>6</vt:i4>
      </vt:variant>
    </vt:vector>
  </HeadingPairs>
  <TitlesOfParts>
    <vt:vector size="13" baseType="lpstr">
      <vt:lpstr>Arial</vt:lpstr>
      <vt:lpstr>Raleway Bold</vt:lpstr>
      <vt:lpstr>HK Modular</vt:lpstr>
      <vt:lpstr>Calibri</vt:lpstr>
      <vt:lpstr>Gruppo</vt:lpstr>
      <vt:lpstr>Raleway Light</vt:lpstr>
      <vt:lpstr>Office Theme</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GUD</dc:title>
  <dc:creator>Acer</dc:creator>
  <cp:lastModifiedBy>Acer</cp:lastModifiedBy>
  <cp:revision>6</cp:revision>
  <dcterms:created xsi:type="dcterms:W3CDTF">2006-08-16T00:00:00Z</dcterms:created>
  <dcterms:modified xsi:type="dcterms:W3CDTF">2025-03-25T21:00:58Z</dcterms:modified>
  <dc:identifier>DAGhyw6L23M</dc:identifier>
</cp:coreProperties>
</file>